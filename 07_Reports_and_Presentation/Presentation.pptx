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3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9" d="100"/>
          <a:sy n="69" d="100"/>
        </p:scale>
        <p:origin x="1200" y="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69804" cy="6874935"/>
            <a:chOff x="-8466" y="-8468"/>
            <a:chExt cx="9169804" cy="6874935"/>
          </a:xfrm>
        </p:grpSpPr>
        <p:cxnSp>
          <p:nvCxnSpPr>
            <p:cNvPr id="17" name="Straight Connector 1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Freeform 18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19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20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21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22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Freeform 23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24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Freeform 2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42118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01175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68491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59947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68126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43913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945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29692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07285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90341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92784339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97318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25605604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258045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670501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47784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69805" cy="6874935"/>
            <a:chOff x="-8467" y="-8468"/>
            <a:chExt cx="9169805" cy="6874935"/>
          </a:xfrm>
        </p:grpSpPr>
        <p:sp>
          <p:nvSpPr>
            <p:cNvPr id="7" name="Freeform 6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8" name="Straight Connector 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14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15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47611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4" r:id="rId1"/>
    <p:sldLayoutId id="2147483745" r:id="rId2"/>
    <p:sldLayoutId id="2147483746" r:id="rId3"/>
    <p:sldLayoutId id="2147483747" r:id="rId4"/>
    <p:sldLayoutId id="2147483748" r:id="rId5"/>
    <p:sldLayoutId id="2147483749" r:id="rId6"/>
    <p:sldLayoutId id="2147483750" r:id="rId7"/>
    <p:sldLayoutId id="2147483751" r:id="rId8"/>
    <p:sldLayoutId id="2147483752" r:id="rId9"/>
    <p:sldLayoutId id="2147483753" r:id="rId10"/>
    <p:sldLayoutId id="2147483754" r:id="rId11"/>
    <p:sldLayoutId id="2147483755" r:id="rId12"/>
    <p:sldLayoutId id="2147483756" r:id="rId13"/>
    <p:sldLayoutId id="2147483757" r:id="rId14"/>
    <p:sldLayoutId id="2147483758" r:id="rId15"/>
    <p:sldLayoutId id="21474837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t>Employee Attrition &amp; Workforce Analytics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dirty="0"/>
              <a:t>Exploratory Data Analysis | Python | IBM HR Analytics dataset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0DBA79E-D541-42B2-AFF8-BC892444D03D}"/>
              </a:ext>
            </a:extLst>
          </p:cNvPr>
          <p:cNvSpPr txBox="1"/>
          <p:nvPr/>
        </p:nvSpPr>
        <p:spPr>
          <a:xfrm>
            <a:off x="5770418" y="5509051"/>
            <a:ext cx="268778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Presented By</a:t>
            </a:r>
            <a:br>
              <a:rPr lang="en-US" sz="2400" dirty="0"/>
            </a:br>
            <a:r>
              <a:rPr lang="en-US" sz="2400" dirty="0"/>
              <a:t>N. </a:t>
            </a:r>
            <a:r>
              <a:rPr lang="en-US" sz="2400" dirty="0" err="1"/>
              <a:t>Endhuja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Understand patterns associated with employee attrition.</a:t>
            </a:r>
          </a:p>
          <a:p>
            <a:pPr>
              <a:defRPr sz="2000"/>
            </a:pPr>
            <a:r>
              <a:t>Explore department, job role, overtime, income, satisfaction, distance, age, and work-life balance.</a:t>
            </a:r>
          </a:p>
          <a:p>
            <a:pPr>
              <a:defRPr sz="2000"/>
            </a:pPr>
            <a:r>
              <a:t>Provide practical, evidence-aware recommendations for HR.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&amp; quality checks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1,470 employee records and 35 columns.</a:t>
            </a:r>
          </a:p>
          <a:p>
            <a:pPr>
              <a:defRPr sz="2000"/>
            </a:pPr>
            <a:r>
              <a:t>Overall attrition rate: 16.12%.</a:t>
            </a:r>
          </a:p>
          <a:p>
            <a:pPr>
              <a:defRPr sz="2000"/>
            </a:pPr>
            <a:r>
              <a:t>Exact duplicate rows: 0; missing cells: 0.</a:t>
            </a:r>
          </a:p>
          <a:p>
            <a:pPr>
              <a:defRPr sz="2000"/>
            </a:pPr>
            <a:r>
              <a:t>Potential outliers are flagged, not automatically deleted.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observed patterns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defRPr sz="2000"/>
            </a:pPr>
            <a:r>
              <a:t>Overall attrition: 16.12% (237 leavers out of 1470 employee records).</a:t>
            </a:r>
          </a:p>
          <a:p>
            <a:pPr>
              <a:defRPr sz="2000"/>
            </a:pPr>
            <a:r>
              <a:t>Highest observed attrition rate by Department: Sales (20.6%; n=446). Check group size before drawing conclusions.</a:t>
            </a:r>
          </a:p>
          <a:p>
            <a:pPr>
              <a:defRPr sz="2000"/>
            </a:pPr>
            <a:r>
              <a:t>Highest observed attrition rate by JobRole: Sales Representative (39.8%; n=83). Check group size before drawing conclusions.</a:t>
            </a:r>
          </a:p>
          <a:p>
            <a:pPr>
              <a:defRPr sz="2000"/>
            </a:pPr>
            <a:r>
              <a:t>Highest observed attrition rate by OverTime: Yes (30.5%; n=416). Check group size before drawing conclusions.</a:t>
            </a:r>
          </a:p>
          <a:p>
            <a:pPr>
              <a:defRPr sz="2000"/>
            </a:pPr>
            <a:r>
              <a:t>Highest observed attrition rate by BusinessTravel: Travel_Frequently (24.9%; n=277). Check group size before drawing conclusions.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HR can investigate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Review overtime demands and workload distribution.</a:t>
            </a:r>
          </a:p>
          <a:p>
            <a:pPr>
              <a:defRPr sz="2000"/>
            </a:pPr>
            <a:r>
              <a:t>Explore retention barriers in job roles with elevated observed rates.</a:t>
            </a:r>
          </a:p>
          <a:p>
            <a:pPr>
              <a:defRPr sz="2000"/>
            </a:pPr>
            <a:r>
              <a:t>Pair satisfaction and work-life balance results with employee feedback.</a:t>
            </a:r>
          </a:p>
          <a:p>
            <a:pPr>
              <a:defRPr sz="2000"/>
            </a:pPr>
            <a:r>
              <a:t>Review compensation with job level, tenure, and pay equity context.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defRPr sz="2000"/>
            </a:pPr>
            <a:r>
              <a:t>Review overtime workload and staffing practices; compare attrition rates and group sizes before changing policy.</a:t>
            </a:r>
          </a:p>
          <a:p>
            <a:pPr>
              <a:defRPr sz="2000"/>
            </a:pPr>
            <a:r>
              <a:t>Investigate high-attrition job roles with HR interviews and role-specific retention analysis.</a:t>
            </a:r>
          </a:p>
          <a:p>
            <a:pPr>
              <a:defRPr sz="2000"/>
            </a:pPr>
            <a:r>
              <a:t>Evaluate compensation bands and career progression using pay equity and job-level context rather than salary alone.</a:t>
            </a:r>
          </a:p>
          <a:p>
            <a:pPr>
              <a:defRPr sz="2000"/>
            </a:pPr>
            <a:r>
              <a:t>Review job satisfaction and work-life balance feedback alongside manager and team context.</a:t>
            </a:r>
          </a:p>
          <a:p>
            <a:pPr>
              <a:defRPr sz="2000"/>
            </a:pPr>
            <a:r>
              <a:t>Use voluntary, privacy-respecting employee feedback and repeat analyses over time if dated records become available.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Limitations &amp; 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Observational analysis; associations do not prove causality.</a:t>
            </a:r>
          </a:p>
          <a:p>
            <a:pPr>
              <a:defRPr sz="2000"/>
            </a:pPr>
            <a:r>
              <a:t>Group sizes and business context matter when comparing attrition rates.</a:t>
            </a:r>
          </a:p>
          <a:p>
            <a:pPr>
              <a:defRPr sz="2000"/>
            </a:pPr>
            <a:r>
              <a:t>No appropriate date field is available for time-series analysis.</a:t>
            </a:r>
          </a:p>
          <a:p>
            <a:pPr>
              <a:defRPr sz="2000"/>
            </a:pPr>
            <a:r>
              <a:t>Validate findings with HR stakeholders and repeat with time-stamped data if available.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EC3453F-9B2A-4A63-8DDF-13A61A48BEDA}"/>
              </a:ext>
            </a:extLst>
          </p:cNvPr>
          <p:cNvSpPr/>
          <p:nvPr/>
        </p:nvSpPr>
        <p:spPr>
          <a:xfrm>
            <a:off x="1325417" y="2764336"/>
            <a:ext cx="6673273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660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307766355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Yellow Orange">
      <a:dk1>
        <a:sysClr val="windowText" lastClr="000000"/>
      </a:dk1>
      <a:lt1>
        <a:sysClr val="window" lastClr="FFFFFF"/>
      </a:lt1>
      <a:dk2>
        <a:srgbClr val="4E3B30"/>
      </a:dk2>
      <a:lt2>
        <a:srgbClr val="FBEEC9"/>
      </a:lt2>
      <a:accent1>
        <a:srgbClr val="F0A22E"/>
      </a:accent1>
      <a:accent2>
        <a:srgbClr val="A5644E"/>
      </a:accent2>
      <a:accent3>
        <a:srgbClr val="B58B80"/>
      </a:accent3>
      <a:accent4>
        <a:srgbClr val="C3986D"/>
      </a:accent4>
      <a:accent5>
        <a:srgbClr val="A19574"/>
      </a:accent5>
      <a:accent6>
        <a:srgbClr val="C17529"/>
      </a:accent6>
      <a:hlink>
        <a:srgbClr val="AD1F1F"/>
      </a:hlink>
      <a:folHlink>
        <a:srgbClr val="FFC42F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7</TotalTime>
  <Words>374</Words>
  <Application>Microsoft Office PowerPoint</Application>
  <PresentationFormat>On-screen Show (4:3)</PresentationFormat>
  <Paragraphs>35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Trebuchet MS</vt:lpstr>
      <vt:lpstr>Wingdings 3</vt:lpstr>
      <vt:lpstr>Facet</vt:lpstr>
      <vt:lpstr>Employee Attrition &amp; Workforce Analytics</vt:lpstr>
      <vt:lpstr>Project objective</vt:lpstr>
      <vt:lpstr>Dataset &amp; quality checks</vt:lpstr>
      <vt:lpstr>Key observed patterns</vt:lpstr>
      <vt:lpstr>What HR can investigate</vt:lpstr>
      <vt:lpstr>Recommendations</vt:lpstr>
      <vt:lpstr>Limitations &amp; next steps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Employee Attrition &amp; Workforce Analytics</dc:title>
  <dc:subject/>
  <dc:creator>SPIDERMAN</dc:creator>
  <cp:keywords/>
  <dc:description>generated using python-pptx</dc:description>
  <cp:lastModifiedBy>Chanddu</cp:lastModifiedBy>
  <cp:revision>2</cp:revision>
  <dcterms:created xsi:type="dcterms:W3CDTF">2013-01-27T09:14:16Z</dcterms:created>
  <dcterms:modified xsi:type="dcterms:W3CDTF">2026-10-13T14:09:58Z</dcterms:modified>
  <cp:category/>
</cp:coreProperties>
</file>